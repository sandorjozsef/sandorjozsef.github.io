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75" r:id="rId3"/>
    <p:sldId id="279" r:id="rId4"/>
    <p:sldId id="274" r:id="rId5"/>
    <p:sldId id="273" r:id="rId6"/>
    <p:sldId id="268" r:id="rId7"/>
    <p:sldId id="280" r:id="rId8"/>
    <p:sldId id="269" r:id="rId9"/>
    <p:sldId id="264" r:id="rId10"/>
    <p:sldId id="267" r:id="rId11"/>
    <p:sldId id="281" r:id="rId12"/>
    <p:sldId id="270" r:id="rId13"/>
    <p:sldId id="272" r:id="rId14"/>
    <p:sldId id="271" r:id="rId15"/>
    <p:sldId id="278" r:id="rId16"/>
    <p:sldId id="276" r:id="rId17"/>
    <p:sldId id="277" r:id="rId18"/>
    <p:sldId id="282" r:id="rId1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A4D"/>
    <a:srgbClr val="777777"/>
    <a:srgbClr val="00CC66"/>
    <a:srgbClr val="3399FF"/>
    <a:srgbClr val="6666FF"/>
    <a:srgbClr val="3366FF"/>
    <a:srgbClr val="3333FF"/>
    <a:srgbClr val="1502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3" autoAdjust="0"/>
    <p:restoredTop sz="88950" autoAdjust="0"/>
  </p:normalViewPr>
  <p:slideViewPr>
    <p:cSldViewPr snapToGrid="0">
      <p:cViewPr varScale="1">
        <p:scale>
          <a:sx n="143" d="100"/>
          <a:sy n="143" d="100"/>
        </p:scale>
        <p:origin x="1032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-2850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4E56A7-0A01-44F2-86E6-E8ECE419E28C}" type="datetimeFigureOut">
              <a:rPr lang="hu-HU" smtClean="0"/>
              <a:t>2026. 08. 26.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C55FA-378E-401F-A827-0317F10283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671766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6CE47C-6804-445B-A5D2-FDAA84DC08D1}" type="datetimeFigureOut">
              <a:rPr lang="hu-HU" smtClean="0"/>
              <a:t>2026. 08. 26.</a:t>
            </a:fld>
            <a:endParaRPr lang="hu-H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6DE1EE-13E1-4098-A3ED-7B2B81B507D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35751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6DE1EE-13E1-4098-A3ED-7B2B81B507D1}" type="slidenum">
              <a:rPr lang="hu-HU" smtClean="0"/>
              <a:t>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37310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 scenario, embedded industrial environment.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widely used in industrial and embedded systems where hardware upgrades are impractical.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CVE analysis or vulnerability assessments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updates are operationally infeasible due to uptime requirements, certification constraints, or vendor support limitations.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6DE1EE-13E1-4098-A3ED-7B2B81B507D1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61949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OS change</a:t>
            </a:r>
          </a:p>
          <a:p>
            <a:r>
              <a:rPr lang="en-US" dirty="0"/>
              <a:t>No recompilation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6DE1EE-13E1-4098-A3ED-7B2B81B507D1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957146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using benign stack content, learn benign stack pattern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6DE1EE-13E1-4098-A3ED-7B2B81B507D1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94962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 address values don’t have much meaning</a:t>
            </a:r>
          </a:p>
          <a:p>
            <a:r>
              <a:rPr lang="en-US" dirty="0"/>
              <a:t>We semantically encode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6DE1EE-13E1-4098-A3ED-7B2B81B507D1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17742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Remove the last row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6DE1EE-13E1-4098-A3ED-7B2B81B507D1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03171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PCA – dimensionality reduction technique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6DE1EE-13E1-4098-A3ED-7B2B81B507D1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281397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Challenging task to collect benign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6DE1EE-13E1-4098-A3ED-7B2B81B507D1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244739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Angrop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--&gt; Zeng, K., Schloegel, M., Salls, C.,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Doupé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A., Wang, R.,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Shoshitaishvili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Y., Bao, T.: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ropbot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Reimaging code reuse attack synthesis, NDSS 2026</a:t>
            </a:r>
          </a:p>
          <a:p>
            <a:pPr marL="171450" indent="-171450">
              <a:buFontTx/>
              <a:buChar char="-"/>
            </a:pPr>
            <a:r>
              <a:rPr lang="en-US" dirty="0"/>
              <a:t>Architecture agnostic</a:t>
            </a:r>
          </a:p>
          <a:p>
            <a:pPr marL="171450" indent="-171450">
              <a:buFontTx/>
              <a:buChar char="-"/>
            </a:pPr>
            <a:r>
              <a:rPr lang="en-US" dirty="0"/>
              <a:t>State-of-the art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Functions: system, </a:t>
            </a:r>
            <a:r>
              <a:rPr lang="en-US" dirty="0" err="1"/>
              <a:t>mmap</a:t>
            </a:r>
            <a:r>
              <a:rPr lang="en-US" dirty="0"/>
              <a:t>, </a:t>
            </a:r>
            <a:r>
              <a:rPr lang="en-US" dirty="0" err="1"/>
              <a:t>mprotect</a:t>
            </a:r>
            <a:endParaRPr lang="en-US" dirty="0"/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6DE1EE-13E1-4098-A3ED-7B2B81B507D1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718227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Injecting ROP to stack, Simulating </a:t>
            </a:r>
            <a:r>
              <a:rPr lang="en-US" dirty="0" err="1"/>
              <a:t>rop</a:t>
            </a:r>
            <a:r>
              <a:rPr lang="en-US" dirty="0"/>
              <a:t> attacks</a:t>
            </a:r>
          </a:p>
          <a:p>
            <a:r>
              <a:rPr lang="en-US" dirty="0"/>
              <a:t>As realistic as possible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6DE1EE-13E1-4098-A3ED-7B2B81B507D1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681258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 to collect real stack content with </a:t>
            </a:r>
            <a:r>
              <a:rPr lang="en-US" dirty="0" err="1"/>
              <a:t>rop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6DE1EE-13E1-4098-A3ED-7B2B81B507D1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548544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Threshold selection method, trade-off for reducing  FP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6DE1EE-13E1-4098-A3ED-7B2B81B507D1}" type="slidenum">
              <a:rPr lang="hu-HU" smtClean="0"/>
              <a:t>12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294170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Uprobes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a tracing functionality of the Linux kernel, which allows placing probes at arbitrary addresses of any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userspace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application</a:t>
            </a:r>
          </a:p>
          <a:p>
            <a:endParaRPr lang="en-US" dirty="0"/>
          </a:p>
          <a:p>
            <a:r>
              <a:rPr lang="en-US" dirty="0"/>
              <a:t>Kernel space - User space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6DE1EE-13E1-4098-A3ED-7B2B81B507D1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552509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Nem </a:t>
            </a:r>
            <a:r>
              <a:rPr lang="en-US" dirty="0" err="1"/>
              <a:t>kell</a:t>
            </a:r>
            <a:r>
              <a:rPr lang="en-US" dirty="0"/>
              <a:t> </a:t>
            </a:r>
            <a:r>
              <a:rPr lang="en-US" dirty="0" err="1"/>
              <a:t>konkret</a:t>
            </a:r>
            <a:r>
              <a:rPr lang="en-US" dirty="0"/>
              <a:t> </a:t>
            </a:r>
            <a:r>
              <a:rPr lang="en-US" dirty="0" err="1"/>
              <a:t>szamok</a:t>
            </a:r>
            <a:r>
              <a:rPr lang="en-US" dirty="0"/>
              <a:t>, </a:t>
            </a:r>
            <a:r>
              <a:rPr lang="en-US" dirty="0" err="1"/>
              <a:t>nagy</a:t>
            </a:r>
            <a:r>
              <a:rPr lang="en-US" dirty="0"/>
              <a:t> a </a:t>
            </a:r>
            <a:r>
              <a:rPr lang="en-US" dirty="0" err="1"/>
              <a:t>variancia</a:t>
            </a:r>
            <a:r>
              <a:rPr lang="en-US" dirty="0"/>
              <a:t>, </a:t>
            </a:r>
            <a:r>
              <a:rPr lang="en-US" dirty="0" err="1"/>
              <a:t>miktol</a:t>
            </a:r>
            <a:r>
              <a:rPr lang="en-US" dirty="0"/>
              <a:t> </a:t>
            </a:r>
            <a:r>
              <a:rPr lang="en-US" dirty="0" err="1"/>
              <a:t>fugg</a:t>
            </a:r>
            <a:r>
              <a:rPr lang="en-US" dirty="0"/>
              <a:t>,  </a:t>
            </a:r>
            <a:r>
              <a:rPr lang="en-US" dirty="0" err="1"/>
              <a:t>reszletek</a:t>
            </a:r>
            <a:r>
              <a:rPr lang="en-US" dirty="0"/>
              <a:t> a </a:t>
            </a:r>
            <a:r>
              <a:rPr lang="en-US" dirty="0" err="1"/>
              <a:t>cikkben</a:t>
            </a:r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Mean: 53 µs</a:t>
            </a:r>
          </a:p>
          <a:p>
            <a:pPr lvl="1"/>
            <a:r>
              <a:rPr lang="en-US" dirty="0"/>
              <a:t>95</a:t>
            </a:r>
            <a:r>
              <a:rPr lang="en-US" baseline="30000" dirty="0"/>
              <a:t>th</a:t>
            </a:r>
            <a:r>
              <a:rPr lang="en-US" dirty="0"/>
              <a:t> percentile: 106 µs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US" dirty="0"/>
              <a:t>+ 2.02% with 1 trigger point</a:t>
            </a:r>
          </a:p>
          <a:p>
            <a:pPr marL="457200" lvl="1" indent="0">
              <a:buNone/>
            </a:pPr>
            <a:r>
              <a:rPr lang="en-US" dirty="0"/>
              <a:t>+ 2.04% with 3 trigger points</a:t>
            </a:r>
          </a:p>
          <a:p>
            <a:pPr marL="457200" lvl="1" indent="0">
              <a:buNone/>
            </a:pPr>
            <a:r>
              <a:rPr lang="en-US" dirty="0"/>
              <a:t>+ 53.06% with 6 trigger points</a:t>
            </a:r>
          </a:p>
          <a:p>
            <a:pPr marL="457200" lvl="1" indent="0">
              <a:buNone/>
            </a:pPr>
            <a:r>
              <a:rPr lang="en-US" dirty="0"/>
              <a:t>+ 67.07% with 12 trigger points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6DE1EE-13E1-4098-A3ED-7B2B81B507D1}" type="slidenum">
              <a:rPr lang="hu-HU" smtClean="0"/>
              <a:t>14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564187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Welearegai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G.B., Hu, C., Hammer, C.: Detecting and Preventing ROP Attacks using Machine Learning on ARM. In: 2023 IEEE 47th Annual Computers, Software, and Applications Conference (COMPSAC) (2023).</a:t>
            </a:r>
          </a:p>
          <a:p>
            <a:endParaRPr lang="en-US" dirty="0"/>
          </a:p>
          <a:p>
            <a:r>
              <a:rPr lang="en-US" dirty="0"/>
              <a:t>Exploit-</a:t>
            </a:r>
            <a:r>
              <a:rPr lang="en-US" dirty="0" err="1"/>
              <a:t>db</a:t>
            </a:r>
            <a:r>
              <a:rPr lang="en-US" dirty="0"/>
              <a:t> chains convert to ARM, both opened a shell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These binaries wasn’t used for training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6DE1EE-13E1-4098-A3ED-7B2B81B507D1}" type="slidenum">
              <a:rPr lang="hu-HU" smtClean="0"/>
              <a:t>15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598938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source code recompilation</a:t>
            </a:r>
          </a:p>
          <a:p>
            <a:pPr lvl="1"/>
            <a:r>
              <a:rPr lang="en-US" dirty="0"/>
              <a:t>firmware change</a:t>
            </a:r>
          </a:p>
          <a:p>
            <a:pPr lvl="1"/>
            <a:r>
              <a:rPr lang="en-US" dirty="0"/>
              <a:t>OS modification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chain integrity check without overhead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6DE1EE-13E1-4098-A3ED-7B2B81B507D1}" type="slidenum">
              <a:rPr lang="hu-HU" smtClean="0"/>
              <a:t>16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58329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867025"/>
            <a:ext cx="10363200" cy="112395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hu-H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168760"/>
            <a:ext cx="8534400" cy="1588573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hu-HU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5430622" y="6581002"/>
            <a:ext cx="1377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</a:t>
            </a:r>
            <a:r>
              <a:rPr lang="hu-HU" sz="1200" dirty="0"/>
              <a:t> </a:t>
            </a:r>
            <a:r>
              <a:rPr lang="hu-HU" sz="1200" baseline="0" dirty="0" err="1"/>
              <a:t>CrySyS</a:t>
            </a:r>
            <a:r>
              <a:rPr lang="hu-HU" sz="1200" baseline="0" dirty="0"/>
              <a:t> Lab, BME</a:t>
            </a:r>
            <a:endParaRPr lang="hu-HU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060EEC-64DB-4747-9BA3-6F9DC2B2AE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4416" y="1066370"/>
            <a:ext cx="3490228" cy="1301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652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616" y="116632"/>
            <a:ext cx="9711821" cy="634082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1052736"/>
            <a:ext cx="11247040" cy="5259164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>
              <a:defRPr sz="2000"/>
            </a:lvl2pPr>
            <a:lvl3pPr marL="1143000" indent="-228600">
              <a:buFont typeface="Arial" panose="020B0604020202020204" pitchFamily="34" charset="0"/>
              <a:buChar char="»"/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59503" y="6501249"/>
            <a:ext cx="5582605" cy="293117"/>
          </a:xfrm>
        </p:spPr>
        <p:txBody>
          <a:bodyPr/>
          <a:lstStyle>
            <a:lvl1pPr algn="r">
              <a:defRPr sz="12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hu-HU"/>
              <a:t>PROPS</a:t>
            </a:r>
            <a:endParaRPr lang="hu-HU" dirty="0"/>
          </a:p>
        </p:txBody>
      </p:sp>
      <p:cxnSp>
        <p:nvCxnSpPr>
          <p:cNvPr id="9" name="Straight Connector 8"/>
          <p:cNvCxnSpPr>
            <a:cxnSpLocks/>
          </p:cNvCxnSpPr>
          <p:nvPr userDrawn="1"/>
        </p:nvCxnSpPr>
        <p:spPr>
          <a:xfrm>
            <a:off x="307364" y="794885"/>
            <a:ext cx="9711821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accent6">
                    <a:lumMod val="75000"/>
                  </a:schemeClr>
                </a:gs>
                <a:gs pos="50000">
                  <a:schemeClr val="accent6">
                    <a:lumMod val="75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 userDrawn="1"/>
        </p:nvCxnSpPr>
        <p:spPr>
          <a:xfrm>
            <a:off x="5859503" y="6453369"/>
            <a:ext cx="6093959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accent6">
                    <a:lumMod val="75000"/>
                  </a:schemeClr>
                </a:gs>
                <a:gs pos="50000">
                  <a:schemeClr val="accent6">
                    <a:lumMod val="75000"/>
                  </a:schemeClr>
                </a:gs>
                <a:gs pos="100000">
                  <a:schemeClr val="bg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E66D360-6159-4C43-B2F3-F0A7E0F1BBD3}"/>
              </a:ext>
            </a:extLst>
          </p:cNvPr>
          <p:cNvSpPr/>
          <p:nvPr userDrawn="1"/>
        </p:nvSpPr>
        <p:spPr>
          <a:xfrm>
            <a:off x="11530300" y="6550073"/>
            <a:ext cx="407315" cy="20766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61441" y="6501249"/>
            <a:ext cx="571536" cy="293117"/>
          </a:xfrm>
        </p:spPr>
        <p:txBody>
          <a:bodyPr/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fld id="{4F532308-F742-4E8E-A0E9-3E442CCFFF54}" type="slidenum">
              <a:rPr lang="hu-HU" smtClean="0"/>
              <a:pPr/>
              <a:t>‹#›</a:t>
            </a:fld>
            <a:endParaRPr lang="hu-H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A0A9F3-DDFF-9148-8C6D-B031985CA5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10" y="6447058"/>
            <a:ext cx="1224679" cy="37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785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884533"/>
            <a:ext cx="10363200" cy="765175"/>
          </a:xfrm>
        </p:spPr>
        <p:txBody>
          <a:bodyPr anchor="t"/>
          <a:lstStyle>
            <a:lvl1pPr algn="ctr">
              <a:defRPr sz="3600" b="1" cap="none" baseline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hu-H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82BC6DF-B55A-154A-9A34-C3C6C15E08F0}"/>
              </a:ext>
            </a:extLst>
          </p:cNvPr>
          <p:cNvCxnSpPr>
            <a:cxnSpLocks/>
          </p:cNvCxnSpPr>
          <p:nvPr userDrawn="1"/>
        </p:nvCxnSpPr>
        <p:spPr>
          <a:xfrm>
            <a:off x="702365" y="4710903"/>
            <a:ext cx="10880035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accent6">
                    <a:lumMod val="75000"/>
                  </a:schemeClr>
                </a:gs>
                <a:gs pos="50000">
                  <a:schemeClr val="accent6">
                    <a:lumMod val="75000"/>
                  </a:schemeClr>
                </a:gs>
                <a:gs pos="10000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8415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7455" y="1046842"/>
            <a:ext cx="5522047" cy="5219700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>
              <a:defRPr sz="2000"/>
            </a:lvl2pPr>
            <a:lvl3pPr marL="1143000" indent="-228600">
              <a:buFont typeface="Arial" panose="020B0604020202020204" pitchFamily="34" charset="0"/>
              <a:buChar char="»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32284" y="1046842"/>
            <a:ext cx="5515430" cy="5219700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>
              <a:defRPr sz="2000"/>
            </a:lvl2pPr>
            <a:lvl3pPr marL="1143000" indent="-228600">
              <a:buFont typeface="Arial" panose="020B0604020202020204" pitchFamily="34" charset="0"/>
              <a:buChar char="»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20616" y="116632"/>
            <a:ext cx="9519800" cy="634082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hu-HU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624AA5F-009B-9345-942B-40E24AE86CF8}"/>
              </a:ext>
            </a:extLst>
          </p:cNvPr>
          <p:cNvCxnSpPr>
            <a:cxnSpLocks/>
          </p:cNvCxnSpPr>
          <p:nvPr userDrawn="1"/>
        </p:nvCxnSpPr>
        <p:spPr>
          <a:xfrm>
            <a:off x="307364" y="794885"/>
            <a:ext cx="9711821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accent6">
                    <a:lumMod val="75000"/>
                  </a:schemeClr>
                </a:gs>
                <a:gs pos="50000">
                  <a:schemeClr val="accent6">
                    <a:lumMod val="75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77D0954D-D5F0-B746-A61D-9D9CEBB4D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59503" y="6501249"/>
            <a:ext cx="5582605" cy="293117"/>
          </a:xfrm>
        </p:spPr>
        <p:txBody>
          <a:bodyPr/>
          <a:lstStyle>
            <a:lvl1pPr algn="r">
              <a:defRPr sz="12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hu-HU"/>
              <a:t>PROPS</a:t>
            </a:r>
            <a:endParaRPr lang="hu-HU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8BC8BFC-83F1-E840-B4BA-E65FE20102C5}"/>
              </a:ext>
            </a:extLst>
          </p:cNvPr>
          <p:cNvCxnSpPr>
            <a:cxnSpLocks/>
          </p:cNvCxnSpPr>
          <p:nvPr userDrawn="1"/>
        </p:nvCxnSpPr>
        <p:spPr>
          <a:xfrm>
            <a:off x="5859503" y="6453369"/>
            <a:ext cx="6093959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accent6">
                    <a:lumMod val="75000"/>
                  </a:schemeClr>
                </a:gs>
                <a:gs pos="50000">
                  <a:schemeClr val="accent6">
                    <a:lumMod val="75000"/>
                  </a:schemeClr>
                </a:gs>
                <a:gs pos="100000">
                  <a:schemeClr val="bg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4CB5A72-909E-9F45-9D3B-EE4ACE1F17DD}"/>
              </a:ext>
            </a:extLst>
          </p:cNvPr>
          <p:cNvSpPr/>
          <p:nvPr userDrawn="1"/>
        </p:nvSpPr>
        <p:spPr>
          <a:xfrm>
            <a:off x="11530300" y="6550073"/>
            <a:ext cx="407315" cy="20766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B4CDE676-ED84-C74E-A629-8005691BE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1441" y="6501249"/>
            <a:ext cx="571536" cy="293117"/>
          </a:xfrm>
        </p:spPr>
        <p:txBody>
          <a:bodyPr/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fld id="{4F532308-F742-4E8E-A0E9-3E442CCFFF54}" type="slidenum">
              <a:rPr lang="hu-HU" smtClean="0"/>
              <a:pPr/>
              <a:t>‹#›</a:t>
            </a:fld>
            <a:endParaRPr lang="hu-H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AC9FB5-1C99-1542-97C1-A1480AE112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10" y="6447058"/>
            <a:ext cx="1224679" cy="37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589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hu-HU"/>
              <a:t>PROPS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532308-F742-4E8E-A0E9-3E442CCFFF5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14609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692854"/>
            <a:ext cx="9144000" cy="1123950"/>
          </a:xfrm>
        </p:spPr>
        <p:txBody>
          <a:bodyPr>
            <a:noAutofit/>
          </a:bodyPr>
          <a:lstStyle/>
          <a:p>
            <a:r>
              <a:rPr lang="en-US" sz="3600" dirty="0"/>
              <a:t>PROPS: Learning Stack Patterns for ROP Detection on Legacy ARM-based Devices</a:t>
            </a:r>
            <a:endParaRPr lang="en-US" sz="3600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54286"/>
            <a:ext cx="8534400" cy="1645920"/>
          </a:xfrm>
        </p:spPr>
        <p:txBody>
          <a:bodyPr>
            <a:normAutofit fontScale="92500" lnSpcReduction="20000"/>
          </a:bodyPr>
          <a:lstStyle/>
          <a:p>
            <a:r>
              <a:rPr lang="en-US" sz="2600" u="sng" dirty="0"/>
              <a:t>József Sándor</a:t>
            </a:r>
            <a:r>
              <a:rPr lang="en-US" sz="2600" dirty="0"/>
              <a:t>, Roland Nagy, and Levente </a:t>
            </a:r>
            <a:r>
              <a:rPr lang="en-US" sz="2600" dirty="0" err="1"/>
              <a:t>Buttyán</a:t>
            </a:r>
            <a:endParaRPr lang="en-US" sz="2600" dirty="0"/>
          </a:p>
          <a:p>
            <a:endParaRPr lang="en-US" dirty="0"/>
          </a:p>
          <a:p>
            <a:r>
              <a:rPr lang="en-US" sz="1900" dirty="0" err="1"/>
              <a:t>CrySyS</a:t>
            </a:r>
            <a:r>
              <a:rPr lang="en-US" sz="1900" dirty="0"/>
              <a:t> Lab</a:t>
            </a:r>
          </a:p>
          <a:p>
            <a:r>
              <a:rPr lang="en-US" sz="1900" dirty="0"/>
              <a:t>Department of Networked Systems and Services</a:t>
            </a:r>
          </a:p>
          <a:p>
            <a:r>
              <a:rPr lang="en-US" sz="1900" dirty="0"/>
              <a:t>Budapest University of Technology and Economics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9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41BA0-253B-32FA-582A-3264B863D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B156E-3B04-EAE9-BD90-8328D6A83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59" y="1052736"/>
            <a:ext cx="11489087" cy="5259164"/>
          </a:xfrm>
        </p:spPr>
        <p:txBody>
          <a:bodyPr>
            <a:normAutofit/>
          </a:bodyPr>
          <a:lstStyle/>
          <a:p>
            <a:r>
              <a:rPr lang="en-US" dirty="0"/>
              <a:t>Return-oriented programming (ROP) is still a viable attack</a:t>
            </a:r>
          </a:p>
          <a:p>
            <a:r>
              <a:rPr lang="en-US" dirty="0"/>
              <a:t>No ultimate defense exists, especially for legacy embedded systems</a:t>
            </a:r>
          </a:p>
          <a:p>
            <a:r>
              <a:rPr lang="en-US" dirty="0"/>
              <a:t>Modern hardware features on ARM architecture (PAC, BTI) are promising,</a:t>
            </a:r>
            <a:br>
              <a:rPr lang="en-US" dirty="0"/>
            </a:br>
            <a:r>
              <a:rPr lang="en-US" dirty="0"/>
              <a:t>but not available on devices with ARMv7 and older architectures</a:t>
            </a:r>
          </a:p>
          <a:p>
            <a:r>
              <a:rPr lang="en-US" dirty="0"/>
              <a:t>In industrial and embedded systems</a:t>
            </a:r>
          </a:p>
          <a:p>
            <a:pPr lvl="1"/>
            <a:r>
              <a:rPr lang="en-US" dirty="0"/>
              <a:t>hardware upgrades are impractical</a:t>
            </a:r>
          </a:p>
          <a:p>
            <a:pPr lvl="1"/>
            <a:r>
              <a:rPr lang="en-US" dirty="0"/>
              <a:t>vulnerabilities cannot always be patched promptly</a:t>
            </a:r>
          </a:p>
          <a:p>
            <a:pPr lvl="1"/>
            <a:r>
              <a:rPr lang="en-US" dirty="0"/>
              <a:t>devices must continue to operate despite known memory-safety issues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40A923-B0B8-71AB-39AF-E07076723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PROPS</a:t>
            </a:r>
            <a:endParaRPr lang="hu-H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AFFD4F-6E84-1643-6C2C-65936ED86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32308-F742-4E8E-A0E9-3E442CCFFF54}" type="slidenum">
              <a:rPr lang="hu-HU" smtClean="0"/>
              <a:pPr/>
              <a:t>1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64657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5AEF9-A15F-43B1-D20C-F4B2005CA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AF68E-5DA8-6336-5949-95847FB71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legacy systems with 32-bit ARMv7 and older architectures</a:t>
            </a:r>
          </a:p>
          <a:p>
            <a:r>
              <a:rPr lang="en-US" dirty="0"/>
              <a:t>Easy to deploy and compatible with existing systems</a:t>
            </a:r>
          </a:p>
          <a:p>
            <a:r>
              <a:rPr lang="en-US" dirty="0"/>
              <a:t>No modification of the existing software stack</a:t>
            </a:r>
          </a:p>
          <a:p>
            <a:r>
              <a:rPr lang="en-US" u="sng" dirty="0"/>
              <a:t>Detection</a:t>
            </a:r>
            <a:r>
              <a:rPr lang="en-US" dirty="0"/>
              <a:t> vs Prevention</a:t>
            </a:r>
          </a:p>
          <a:p>
            <a:r>
              <a:rPr lang="en-US" dirty="0"/>
              <a:t>Using the knowledge of a potential vulnerability (e.g., from CVE databases)</a:t>
            </a:r>
          </a:p>
          <a:p>
            <a:r>
              <a:rPr lang="en-US" dirty="0"/>
              <a:t>Learn only the characteristics of benign stack content (anomaly detection)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00FF4B-1D51-D578-7687-13EF2AC43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PROPS</a:t>
            </a:r>
            <a:endParaRPr lang="hu-H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50B7E6-7473-45A4-C0C7-1139C391E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32308-F742-4E8E-A0E9-3E442CCFFF54}" type="slidenum">
              <a:rPr lang="hu-HU" smtClean="0"/>
              <a:pPr/>
              <a:t>2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27983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7A62ED96-77C9-6D0D-6612-C828A87DEE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889" y="2694367"/>
            <a:ext cx="11143213" cy="22625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13A1E1-CCC6-E07C-691D-67494E860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PROPS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80234-BF2C-B4DE-ECF2-E65421722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PROPS (</a:t>
            </a:r>
            <a:r>
              <a:rPr lang="en-US" b="1" dirty="0"/>
              <a:t>P</a:t>
            </a:r>
            <a:r>
              <a:rPr lang="en-US" dirty="0"/>
              <a:t>recision </a:t>
            </a:r>
            <a:r>
              <a:rPr lang="en-US" b="1" dirty="0"/>
              <a:t>ROP</a:t>
            </a:r>
            <a:r>
              <a:rPr lang="en-US" dirty="0"/>
              <a:t> </a:t>
            </a:r>
            <a:r>
              <a:rPr lang="en-US" b="1" dirty="0"/>
              <a:t>S</a:t>
            </a:r>
            <a:r>
              <a:rPr lang="en-US" dirty="0"/>
              <a:t>canner)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105E1-7E80-4EF8-AC6E-CA8860AC2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PROPS</a:t>
            </a:r>
            <a:endParaRPr lang="hu-H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FC1C6D-1A6B-CB5F-C8E2-A0D574BA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32308-F742-4E8E-A0E9-3E442CCFFF54}" type="slidenum">
              <a:rPr lang="hu-HU" smtClean="0"/>
              <a:pPr/>
              <a:t>3</a:t>
            </a:fld>
            <a:endParaRPr lang="hu-HU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8871290-4B27-7146-4913-48B5E6CF4783}"/>
              </a:ext>
            </a:extLst>
          </p:cNvPr>
          <p:cNvSpPr/>
          <p:nvPr/>
        </p:nvSpPr>
        <p:spPr>
          <a:xfrm>
            <a:off x="2931080" y="3528190"/>
            <a:ext cx="320512" cy="30825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2BA38F3-2263-BA42-DBCA-027F89FED28F}"/>
              </a:ext>
            </a:extLst>
          </p:cNvPr>
          <p:cNvSpPr/>
          <p:nvPr/>
        </p:nvSpPr>
        <p:spPr>
          <a:xfrm>
            <a:off x="4459878" y="3528190"/>
            <a:ext cx="320512" cy="30825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CA13925-6C3F-2352-1DF3-A8A04013838E}"/>
              </a:ext>
            </a:extLst>
          </p:cNvPr>
          <p:cNvSpPr/>
          <p:nvPr/>
        </p:nvSpPr>
        <p:spPr>
          <a:xfrm>
            <a:off x="6564061" y="3528190"/>
            <a:ext cx="320512" cy="30825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F5E26E6-F786-A7C3-D8CD-AE2AFA7EB217}"/>
              </a:ext>
            </a:extLst>
          </p:cNvPr>
          <p:cNvSpPr/>
          <p:nvPr/>
        </p:nvSpPr>
        <p:spPr>
          <a:xfrm>
            <a:off x="9539218" y="3550496"/>
            <a:ext cx="320512" cy="30825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0EFF9E4-45AA-A763-A383-4CDA3CE33E12}"/>
              </a:ext>
            </a:extLst>
          </p:cNvPr>
          <p:cNvSpPr/>
          <p:nvPr/>
        </p:nvSpPr>
        <p:spPr>
          <a:xfrm>
            <a:off x="8019422" y="3529928"/>
            <a:ext cx="320512" cy="30825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7F9B495-00C7-49A5-1400-B28C0002C0A8}"/>
              </a:ext>
            </a:extLst>
          </p:cNvPr>
          <p:cNvSpPr/>
          <p:nvPr/>
        </p:nvSpPr>
        <p:spPr>
          <a:xfrm>
            <a:off x="8322984" y="4447916"/>
            <a:ext cx="320512" cy="30825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5944CE-DD8B-2049-C703-10D6F6E1AD7B}"/>
              </a:ext>
            </a:extLst>
          </p:cNvPr>
          <p:cNvSpPr txBox="1"/>
          <p:nvPr/>
        </p:nvSpPr>
        <p:spPr>
          <a:xfrm>
            <a:off x="2678714" y="5009588"/>
            <a:ext cx="15742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(on server)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4585C2-56D8-7D72-10C4-DD24B74123C4}"/>
              </a:ext>
            </a:extLst>
          </p:cNvPr>
          <p:cNvSpPr txBox="1"/>
          <p:nvPr/>
        </p:nvSpPr>
        <p:spPr>
          <a:xfrm>
            <a:off x="7804540" y="5009588"/>
            <a:ext cx="3046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(on embedded device)</a:t>
            </a:r>
          </a:p>
        </p:txBody>
      </p:sp>
    </p:spTree>
    <p:extLst>
      <p:ext uri="{BB962C8B-B14F-4D97-AF65-F5344CB8AC3E}">
        <p14:creationId xmlns:p14="http://schemas.microsoft.com/office/powerpoint/2010/main" val="4219697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5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76F0-4979-810D-4446-A304FAD79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ROP on 32-bit ARM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2241D-31A9-1A7C-6DED-C6ED46C43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Bypasses XN by chaining together small instruction sequences (gadgets)</a:t>
            </a:r>
          </a:p>
          <a:p>
            <a:r>
              <a:rPr lang="en-US" dirty="0"/>
              <a:t>32-bit ARM -&gt; returning from function via pop {…, pc} instruction</a:t>
            </a:r>
          </a:p>
          <a:p>
            <a:r>
              <a:rPr lang="en-US" dirty="0"/>
              <a:t>The chain is on the top of the stack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851B44-3214-D90C-7302-D41A54774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6772" y="6501249"/>
            <a:ext cx="1005336" cy="293117"/>
          </a:xfrm>
        </p:spPr>
        <p:txBody>
          <a:bodyPr/>
          <a:lstStyle/>
          <a:p>
            <a:r>
              <a:rPr lang="hu-HU" dirty="0"/>
              <a:t>PROPS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97399-D06A-76CD-EC50-E97B47AA5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32308-F742-4E8E-A0E9-3E442CCFFF54}" type="slidenum">
              <a:rPr lang="hu-HU" smtClean="0"/>
              <a:pPr/>
              <a:t>4</a:t>
            </a:fld>
            <a:endParaRPr lang="hu-H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D902DBB-027A-E8C4-DA20-AFCEEBCBAC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580" y="2406075"/>
            <a:ext cx="73406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679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22E07-3751-747F-D4B5-A2EDD294D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Extraction Heuristic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D4BE5-085C-8E40-5A62-BCF8F466C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052736"/>
            <a:ext cx="11247040" cy="5290312"/>
          </a:xfrm>
        </p:spPr>
        <p:txBody>
          <a:bodyPr>
            <a:normAutofit/>
          </a:bodyPr>
          <a:lstStyle/>
          <a:p>
            <a:r>
              <a:rPr lang="en-US" dirty="0"/>
              <a:t>From the top of the stack,  we take 32x4 bytes</a:t>
            </a:r>
          </a:p>
          <a:p>
            <a:r>
              <a:rPr lang="en-US" dirty="0"/>
              <a:t>Every 4-byte value is considered as an address (4-byte aligned on 32-bit ARM)</a:t>
            </a:r>
          </a:p>
          <a:p>
            <a:r>
              <a:rPr lang="en-US" dirty="0"/>
              <a:t>Check where it points, take 40 bytes (=10 instr.), and label it: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/>
              <a:t>F</a:t>
            </a:r>
            <a:r>
              <a:rPr lang="en-US" dirty="0"/>
              <a:t> -&gt; </a:t>
            </a:r>
            <a:r>
              <a:rPr lang="en-US" dirty="0" err="1"/>
              <a:t>libc</a:t>
            </a:r>
            <a:r>
              <a:rPr lang="en-US" dirty="0"/>
              <a:t> function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/>
              <a:t>S</a:t>
            </a:r>
            <a:r>
              <a:rPr lang="en-US" dirty="0"/>
              <a:t> -&gt; string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/>
              <a:t>N</a:t>
            </a:r>
            <a:r>
              <a:rPr lang="en-US" dirty="0"/>
              <a:t> -&gt; invalid instruction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/>
              <a:t>!</a:t>
            </a:r>
            <a:r>
              <a:rPr lang="en-US" dirty="0"/>
              <a:t> -&gt;  SVC instruction (supervisor call)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/>
              <a:t>G</a:t>
            </a:r>
            <a:r>
              <a:rPr lang="en-US" dirty="0"/>
              <a:t> -&gt; pop {..., pc} instruction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/>
              <a:t>J</a:t>
            </a:r>
            <a:r>
              <a:rPr lang="en-US" dirty="0"/>
              <a:t> -&gt; branch-to-register instruction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/>
              <a:t>X</a:t>
            </a:r>
            <a:r>
              <a:rPr lang="en-US" dirty="0"/>
              <a:t> -&gt; executable region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/>
              <a:t>W</a:t>
            </a:r>
            <a:r>
              <a:rPr lang="en-US" dirty="0"/>
              <a:t> -&gt; writable region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/>
              <a:t>R</a:t>
            </a:r>
            <a:r>
              <a:rPr lang="en-US" dirty="0"/>
              <a:t> -&gt; readable region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/>
              <a:t>?</a:t>
            </a:r>
            <a:r>
              <a:rPr lang="en-US" dirty="0"/>
              <a:t> -&gt; address does not correspond to any mapped memory region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D4D47-35E6-A2F1-051A-9F99F374E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PROPS</a:t>
            </a:r>
            <a:endParaRPr lang="hu-H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D8528D-EDC1-03DD-280C-11F17FAE1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32308-F742-4E8E-A0E9-3E442CCFFF54}" type="slidenum">
              <a:rPr lang="hu-HU" smtClean="0"/>
              <a:pPr/>
              <a:t>5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59245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3FDAF-8064-AE80-CE11-3B5D01B1B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377A8C-F673-8382-BBAF-F1F9AC40E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PROPS</a:t>
            </a:r>
            <a:endParaRPr lang="hu-H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1F49EF-1EAC-01BC-BAC9-4E964AA6F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32308-F742-4E8E-A0E9-3E442CCFFF54}" type="slidenum">
              <a:rPr lang="hu-HU" smtClean="0"/>
              <a:pPr/>
              <a:t>6</a:t>
            </a:fld>
            <a:endParaRPr lang="hu-HU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0E0886B-004C-6A1A-2B1E-9900780879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7100"/>
            <a:ext cx="11932141" cy="1740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122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008A5-C1C3-341A-DE72-C59AD4D57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ROP as Anomaly on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A75D7-6901-28BE-EEC8-9AB8E38D1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616" y="1147525"/>
            <a:ext cx="5775383" cy="4964952"/>
          </a:xfrm>
        </p:spPr>
        <p:txBody>
          <a:bodyPr>
            <a:normAutofit/>
          </a:bodyPr>
          <a:lstStyle/>
          <a:p>
            <a:r>
              <a:rPr lang="en-US" dirty="0"/>
              <a:t>Semi-supervised learning approach</a:t>
            </a:r>
          </a:p>
          <a:p>
            <a:r>
              <a:rPr lang="en-US" dirty="0"/>
              <a:t>Using Principal Component Analysis (PCA)</a:t>
            </a:r>
          </a:p>
          <a:p>
            <a:r>
              <a:rPr lang="en-US" dirty="0"/>
              <a:t>One-hot encoded feature vectors (32 x 10)</a:t>
            </a:r>
          </a:p>
          <a:p>
            <a:r>
              <a:rPr lang="en-US" dirty="0"/>
              <a:t>Measuring reconstruction errors</a:t>
            </a:r>
          </a:p>
          <a:p>
            <a:pPr lvl="1"/>
            <a:r>
              <a:rPr lang="en-US" dirty="0"/>
              <a:t>low value -&gt; normal, benign</a:t>
            </a:r>
          </a:p>
          <a:p>
            <a:pPr lvl="1"/>
            <a:r>
              <a:rPr lang="en-US" dirty="0"/>
              <a:t>high value -&gt; anomaly, ROP</a:t>
            </a:r>
          </a:p>
          <a:p>
            <a:r>
              <a:rPr lang="en-US" dirty="0"/>
              <a:t>Stack that contains ROP chain produce higher reconstruction error </a:t>
            </a:r>
          </a:p>
          <a:p>
            <a:r>
              <a:rPr lang="en-US" dirty="0"/>
              <a:t>Threshold selection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FC8B51-D1B3-0C09-9F9F-28C941110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PROPS</a:t>
            </a:r>
            <a:endParaRPr lang="hu-H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5F8BAF-7BB6-352C-846A-CC011CE3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32308-F742-4E8E-A0E9-3E442CCFFF54}" type="slidenum">
              <a:rPr lang="hu-HU" smtClean="0"/>
              <a:pPr/>
              <a:t>7</a:t>
            </a:fld>
            <a:endParaRPr lang="hu-H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5C9983-2E51-5029-3FAF-A911026000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8777" y="870563"/>
            <a:ext cx="5582605" cy="545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042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Benign Stack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1052736"/>
            <a:ext cx="6012888" cy="5259164"/>
          </a:xfrm>
        </p:spPr>
        <p:txBody>
          <a:bodyPr>
            <a:normAutofit/>
          </a:bodyPr>
          <a:lstStyle/>
          <a:p>
            <a:r>
              <a:rPr lang="en-US" dirty="0"/>
              <a:t>Raspberry Pi3 Model B running the 32-bit version of Raspberry Pi OS Lite</a:t>
            </a:r>
          </a:p>
          <a:p>
            <a:r>
              <a:rPr lang="en-US" dirty="0"/>
              <a:t>Run 900+ programs on RPI3 with GDB</a:t>
            </a:r>
          </a:p>
          <a:p>
            <a:r>
              <a:rPr lang="en-US" dirty="0"/>
              <a:t>Breakpoint at main()</a:t>
            </a:r>
          </a:p>
          <a:p>
            <a:pPr lvl="1"/>
            <a:r>
              <a:rPr lang="en-US" dirty="0"/>
              <a:t>Usually, every library is loaded at this point</a:t>
            </a:r>
          </a:p>
          <a:p>
            <a:pPr lvl="1"/>
            <a:r>
              <a:rPr lang="en-US" dirty="0"/>
              <a:t>We make a full memory dump</a:t>
            </a:r>
          </a:p>
          <a:p>
            <a:r>
              <a:rPr lang="en-US" dirty="0"/>
              <a:t>Breakpoints at every pop {…, pc}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instruction</a:t>
            </a:r>
          </a:p>
          <a:p>
            <a:pPr lvl="1"/>
            <a:r>
              <a:rPr lang="en-US" dirty="0"/>
              <a:t>save the top of the stack (32x4 bytes)</a:t>
            </a:r>
          </a:p>
          <a:p>
            <a:pPr lvl="1"/>
            <a:r>
              <a:rPr lang="en-US" dirty="0"/>
              <a:t>not every breakpoints are reached</a:t>
            </a:r>
          </a:p>
          <a:p>
            <a:pPr lvl="1"/>
            <a:r>
              <a:rPr lang="en-US" dirty="0"/>
              <a:t>same breakpoint may be hit multiple times</a:t>
            </a:r>
          </a:p>
          <a:p>
            <a:r>
              <a:rPr lang="en-US" dirty="0"/>
              <a:t>400K saved stack content (290K unique)</a:t>
            </a:r>
          </a:p>
          <a:p>
            <a:r>
              <a:rPr lang="en-US" dirty="0"/>
              <a:t>22K unique benign feature vectors</a:t>
            </a:r>
          </a:p>
          <a:p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PROPS</a:t>
            </a:r>
            <a:endParaRPr lang="en-US" noProof="0" dirty="0"/>
          </a:p>
        </p:txBody>
      </p:sp>
      <p:sp>
        <p:nvSpPr>
          <p:cNvPr id="40" name="Slide Number Placeholder 3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32308-F742-4E8E-A0E9-3E442CCFFF54}" type="slidenum">
              <a:rPr lang="en-US" noProof="0" smtClean="0"/>
              <a:pPr/>
              <a:t>8</a:t>
            </a:fld>
            <a:endParaRPr lang="en-US" noProof="0" dirty="0"/>
          </a:p>
        </p:txBody>
      </p:sp>
      <p:pic>
        <p:nvPicPr>
          <p:cNvPr id="8" name="Picture 7" descr="A computer chip with a wire&#10;&#10;AI-generated content may be incorrect.">
            <a:extLst>
              <a:ext uri="{FF2B5EF4-FFF2-40B4-BE49-F238E27FC236}">
                <a16:creationId xmlns:a16="http://schemas.microsoft.com/office/drawing/2014/main" id="{B81B2089-72B3-77FE-63BD-4747FD9E5B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1164" y="1052736"/>
            <a:ext cx="4470944" cy="4570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121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C6273-8E90-80E2-99D0-73491F1DC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ROP Chain Generation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EFD0F-6CCE-7C04-5741-13B7DB683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052735"/>
            <a:ext cx="11247040" cy="536731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Using </a:t>
            </a:r>
            <a:r>
              <a:rPr lang="en-US" dirty="0" err="1"/>
              <a:t>angrop</a:t>
            </a:r>
            <a:r>
              <a:rPr lang="en-US" dirty="0"/>
              <a:t> tool (Zeng et al., in NDSS 2026)</a:t>
            </a:r>
          </a:p>
          <a:p>
            <a:r>
              <a:rPr lang="en-US" dirty="0"/>
              <a:t>60 selected common ELFs (ls, grep, find, …)</a:t>
            </a:r>
          </a:p>
          <a:p>
            <a:r>
              <a:rPr lang="en-US" dirty="0"/>
              <a:t>3 attacker objectives</a:t>
            </a:r>
          </a:p>
          <a:p>
            <a:pPr lvl="1"/>
            <a:r>
              <a:rPr lang="en-US" dirty="0"/>
              <a:t>Spawning a shell</a:t>
            </a:r>
          </a:p>
          <a:p>
            <a:pPr lvl="1"/>
            <a:r>
              <a:rPr lang="en-US" dirty="0"/>
              <a:t>Creating a new executable page</a:t>
            </a:r>
          </a:p>
          <a:p>
            <a:pPr lvl="1"/>
            <a:r>
              <a:rPr lang="en-US" dirty="0"/>
              <a:t>Making the stack executable</a:t>
            </a:r>
          </a:p>
          <a:p>
            <a:r>
              <a:rPr lang="en-US" dirty="0"/>
              <a:t>4 different methods by calling</a:t>
            </a:r>
          </a:p>
          <a:p>
            <a:pPr marL="857250" lvl="1" indent="-457200"/>
            <a:r>
              <a:rPr lang="en-US" dirty="0"/>
              <a:t>functions using gadgets from </a:t>
            </a:r>
            <a:r>
              <a:rPr lang="en-US" dirty="0" err="1"/>
              <a:t>libc</a:t>
            </a:r>
            <a:endParaRPr lang="en-US" dirty="0"/>
          </a:p>
          <a:p>
            <a:pPr marL="857250" lvl="1" indent="-457200"/>
            <a:r>
              <a:rPr lang="en-US" dirty="0"/>
              <a:t>functions using gadgets from the target program</a:t>
            </a:r>
          </a:p>
          <a:p>
            <a:pPr marL="857250" lvl="1" indent="-457200"/>
            <a:r>
              <a:rPr lang="en-US" dirty="0"/>
              <a:t>system calls using gadgets from </a:t>
            </a:r>
            <a:r>
              <a:rPr lang="en-US" dirty="0" err="1"/>
              <a:t>libc</a:t>
            </a:r>
            <a:endParaRPr lang="en-US" dirty="0"/>
          </a:p>
          <a:p>
            <a:pPr marL="857250" lvl="1" indent="-457200"/>
            <a:r>
              <a:rPr lang="en-US" dirty="0"/>
              <a:t>system calls using gadgets from the target program</a:t>
            </a:r>
          </a:p>
          <a:p>
            <a:r>
              <a:rPr lang="en-US" dirty="0"/>
              <a:t>2 modes: ARM and Thumb</a:t>
            </a:r>
          </a:p>
          <a:p>
            <a:r>
              <a:rPr lang="en-US" dirty="0"/>
              <a:t>1200+ ROP payloads (sometimes </a:t>
            </a:r>
            <a:r>
              <a:rPr lang="en-US" dirty="0" err="1"/>
              <a:t>angrop</a:t>
            </a:r>
            <a:r>
              <a:rPr lang="en-US" dirty="0"/>
              <a:t> didn’t succeed)</a:t>
            </a:r>
          </a:p>
          <a:p>
            <a:r>
              <a:rPr lang="en-US" dirty="0"/>
              <a:t>284 unique feature strings after feature extraction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2FE6D9-39C7-0F48-00E5-157C57B9C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PROPS</a:t>
            </a:r>
            <a:endParaRPr lang="hu-H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F705CC-1303-E5C5-7D63-D379139E7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32308-F742-4E8E-A0E9-3E442CCFFF54}" type="slidenum">
              <a:rPr lang="hu-HU" smtClean="0"/>
              <a:pPr/>
              <a:t>9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55063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E2B00-A14D-A20E-AE90-4E33A0ED0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ROP Feature Vector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66A43-6639-DE52-F6AC-05006D416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PROPS</a:t>
            </a:r>
            <a:endParaRPr lang="hu-H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73492-BAE1-A876-DDB7-9D59CC126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32308-F742-4E8E-A0E9-3E442CCFFF54}" type="slidenum">
              <a:rPr lang="hu-HU" smtClean="0"/>
              <a:pPr/>
              <a:t>10</a:t>
            </a:fld>
            <a:endParaRPr lang="hu-H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54FDED-FB3B-84D8-76CD-0B896E5120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77" y="1183908"/>
            <a:ext cx="11135251" cy="318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35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BC920A12-B1BB-E5F1-A05D-63EE79DE1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0616" y="964335"/>
            <a:ext cx="11437377" cy="5296422"/>
          </a:xfrm>
        </p:spPr>
        <p:txBody>
          <a:bodyPr>
            <a:normAutofit/>
          </a:bodyPr>
          <a:lstStyle/>
          <a:p>
            <a:r>
              <a:rPr lang="en-US" dirty="0"/>
              <a:t>Train on 80% of benign data (17, 600 samples)</a:t>
            </a:r>
          </a:p>
          <a:p>
            <a:r>
              <a:rPr lang="en-US" dirty="0"/>
              <a:t>ROP chains are NOT used for training</a:t>
            </a:r>
          </a:p>
          <a:p>
            <a:r>
              <a:rPr lang="en-US" dirty="0"/>
              <a:t>Test on 20% of benign data (4,400 samples)</a:t>
            </a:r>
          </a:p>
          <a:p>
            <a:r>
              <a:rPr lang="en-US" dirty="0"/>
              <a:t>Insert ROP chains into benign data from test set (4,400 samples)</a:t>
            </a:r>
          </a:p>
          <a:p>
            <a:r>
              <a:rPr lang="en-US" dirty="0"/>
              <a:t>Hyperparameter search (number of PCA components, threshold)</a:t>
            </a:r>
          </a:p>
          <a:p>
            <a:r>
              <a:rPr lang="en-US" dirty="0"/>
              <a:t>K-fold cross validation (5 splits, 2 repeats)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7E8FEF-D762-2A73-70F4-1E86E2EA0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Setup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D67BB6-E2FB-1BB5-79C3-2E7681681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dirty="0"/>
              <a:t>PROPS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CF45A5-BD70-5967-FA2D-031AD5970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32308-F742-4E8E-A0E9-3E442CCFFF54}" type="slidenum">
              <a:rPr lang="hu-HU" smtClean="0"/>
              <a:pPr/>
              <a:t>11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947804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6A7E9-81E1-77E8-A083-4D1F3DA70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Detection Performance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0A3ECC-5DF0-17A8-7106-F9DE54294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PROPS</a:t>
            </a:r>
            <a:endParaRPr lang="hu-H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5C3E73-D18A-72E2-08BE-CB9D1A960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32308-F742-4E8E-A0E9-3E442CCFFF54}" type="slidenum">
              <a:rPr lang="hu-HU" smtClean="0"/>
              <a:pPr/>
              <a:t>12</a:t>
            </a:fld>
            <a:endParaRPr lang="hu-HU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7E06BDB-C3B7-69AF-E080-182D79F5C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59" y="1052736"/>
            <a:ext cx="11697617" cy="5259164"/>
          </a:xfrm>
        </p:spPr>
        <p:txBody>
          <a:bodyPr/>
          <a:lstStyle/>
          <a:p>
            <a:r>
              <a:rPr lang="en-US" dirty="0"/>
              <a:t>Used threshold: 98</a:t>
            </a:r>
            <a:r>
              <a:rPr lang="en-US" baseline="30000" dirty="0"/>
              <a:t>th</a:t>
            </a:r>
            <a:r>
              <a:rPr lang="en-US" dirty="0"/>
              <a:t> percentile of reconstruction errors observed on the training set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5BC6EE-E899-9BB5-CCA0-A2C858EB36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443" y="1883469"/>
            <a:ext cx="3930044" cy="37903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B051AD-C961-00C5-A7B2-0B502A77FB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8940" y="1883469"/>
            <a:ext cx="4142048" cy="403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581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D689D-B49F-B664-9278-688B41A6D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Proof-of-Concept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F3A19-A93B-9A69-F4C6-02257A810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052736"/>
            <a:ext cx="11247040" cy="2876523"/>
          </a:xfrm>
        </p:spPr>
        <p:txBody>
          <a:bodyPr>
            <a:normAutofit/>
          </a:bodyPr>
          <a:lstStyle/>
          <a:p>
            <a:r>
              <a:rPr lang="en-US" dirty="0"/>
              <a:t>We place </a:t>
            </a:r>
            <a:r>
              <a:rPr lang="en-US" b="1" dirty="0" err="1"/>
              <a:t>uprobes</a:t>
            </a:r>
            <a:r>
              <a:rPr lang="en-US" dirty="0"/>
              <a:t> to some return instructions of the </a:t>
            </a:r>
            <a:r>
              <a:rPr lang="en-US" b="1" dirty="0"/>
              <a:t>monitored process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(to the “vulnerable function”)</a:t>
            </a:r>
          </a:p>
          <a:p>
            <a:r>
              <a:rPr lang="en-US" b="1" dirty="0"/>
              <a:t>Loadable Kernel Module</a:t>
            </a:r>
            <a:r>
              <a:rPr lang="en-US" dirty="0"/>
              <a:t> extracts the necessary data from a running process</a:t>
            </a:r>
          </a:p>
          <a:p>
            <a:r>
              <a:rPr lang="en-US" dirty="0"/>
              <a:t>When the execution reaches an </a:t>
            </a:r>
            <a:r>
              <a:rPr lang="en-US" dirty="0" err="1"/>
              <a:t>uprobe</a:t>
            </a:r>
            <a:r>
              <a:rPr lang="en-US" dirty="0"/>
              <a:t>, the </a:t>
            </a:r>
            <a:r>
              <a:rPr lang="en-US" b="1" dirty="0"/>
              <a:t>Kernel Module </a:t>
            </a:r>
            <a:r>
              <a:rPr lang="en-US" dirty="0"/>
              <a:t>gets the control, extracts the data and sends to the </a:t>
            </a:r>
            <a:r>
              <a:rPr lang="en-US" b="1" dirty="0"/>
              <a:t>Inference System</a:t>
            </a:r>
          </a:p>
          <a:p>
            <a:r>
              <a:rPr lang="en-US" b="1" dirty="0"/>
              <a:t>Monitored process </a:t>
            </a:r>
            <a:r>
              <a:rPr lang="en-US" dirty="0"/>
              <a:t>runs further</a:t>
            </a:r>
            <a:endParaRPr 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72F053-63A3-62F3-6125-A1820244D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PROPS</a:t>
            </a:r>
            <a:endParaRPr lang="hu-H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02CBAE-B3D8-25BC-5779-0392A3A9B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32308-F742-4E8E-A0E9-3E442CCFFF54}" type="slidenum">
              <a:rPr lang="hu-HU" smtClean="0"/>
              <a:pPr/>
              <a:t>13</a:t>
            </a:fld>
            <a:endParaRPr lang="hu-H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336C5F-93BE-6572-EDB8-B4B1BD672B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898" y="3929259"/>
            <a:ext cx="9155210" cy="203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045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07C1E-9DE3-5C44-C36B-CA6FD2223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ECF0C-0B45-4412-5869-E69643EB7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Monitored process is paused while the kernel module collects the required data</a:t>
            </a:r>
          </a:p>
          <a:p>
            <a:r>
              <a:rPr lang="en-US" dirty="0"/>
              <a:t>Kernel module processing time is fix except for the memory mapping traversal</a:t>
            </a:r>
          </a:p>
          <a:p>
            <a:r>
              <a:rPr lang="en-US" dirty="0"/>
              <a:t>Low per-invocation latency</a:t>
            </a:r>
          </a:p>
          <a:p>
            <a:r>
              <a:rPr lang="en-US" dirty="0"/>
              <a:t>Runtime overhead measured on 60 common utility programs</a:t>
            </a:r>
          </a:p>
          <a:p>
            <a:r>
              <a:rPr lang="en-US" dirty="0"/>
              <a:t>A few trigger points placed at different function return points</a:t>
            </a:r>
          </a:p>
          <a:p>
            <a:pPr lvl="1"/>
            <a:r>
              <a:rPr lang="en-US" dirty="0"/>
              <a:t>measurements with 1, 3, 6 and 12 trigger points</a:t>
            </a:r>
          </a:p>
          <a:p>
            <a:pPr lvl="1"/>
            <a:r>
              <a:rPr lang="en-US" dirty="0"/>
              <a:t>same trigger point can be reached multiple times</a:t>
            </a:r>
          </a:p>
          <a:p>
            <a:pPr lvl="1"/>
            <a:r>
              <a:rPr lang="en-US" dirty="0"/>
              <a:t>1-3 trigger points: +2% overhead on average</a:t>
            </a:r>
          </a:p>
          <a:p>
            <a:r>
              <a:rPr lang="en-US" dirty="0"/>
              <a:t>Significant variation in individual program performance</a:t>
            </a:r>
          </a:p>
          <a:p>
            <a:pPr lvl="1"/>
            <a:r>
              <a:rPr lang="en-US" dirty="0"/>
              <a:t>depends on the target program and its arguments</a:t>
            </a:r>
          </a:p>
          <a:p>
            <a:pPr lvl="1"/>
            <a:r>
              <a:rPr lang="en-US" dirty="0"/>
              <a:t>measurement noise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468371-56A4-F689-9653-1DEDE476B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PROPS</a:t>
            </a:r>
            <a:endParaRPr lang="hu-H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3C10DF-FDB4-9740-7BBF-9467CE0E0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32308-F742-4E8E-A0E9-3E442CCFFF54}" type="slidenum">
              <a:rPr lang="hu-HU" smtClean="0"/>
              <a:pPr/>
              <a:t>14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52373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4CB3DD-E34E-6DD1-A89B-4888C59489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Crashmail 1.6 (CVE-2018-25223)</a:t>
            </a:r>
          </a:p>
          <a:p>
            <a:r>
              <a:rPr lang="en-US" dirty="0"/>
              <a:t>PMS 0.42 (CVE-2018-25224)</a:t>
            </a:r>
          </a:p>
          <a:p>
            <a:r>
              <a:rPr lang="en-US" dirty="0"/>
              <a:t>Using Exploit-DB ROP chains</a:t>
            </a:r>
          </a:p>
          <a:p>
            <a:r>
              <a:rPr lang="en-US" dirty="0"/>
              <a:t>Successful detection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9F4004-350E-A199-87A8-EBF4214F4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F3A6F-E232-07B3-6CDF-0133B6370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PROPS</a:t>
            </a:r>
            <a:endParaRPr lang="hu-H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504D6-2DA0-E319-4BF9-18F7C570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32308-F742-4E8E-A0E9-3E442CCFFF54}" type="slidenum">
              <a:rPr lang="hu-HU" smtClean="0"/>
              <a:pPr/>
              <a:t>15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89758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70843-A9AC-5BE7-E693-DA681AFB6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1865C-3103-9F18-E735-435A8CAD6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PROPS is a ROP detection method for legacy ARM-based devices</a:t>
            </a:r>
          </a:p>
          <a:p>
            <a:r>
              <a:rPr lang="en-US" dirty="0"/>
              <a:t>It is easy to deploy, compatible with existing systems</a:t>
            </a:r>
          </a:p>
          <a:p>
            <a:r>
              <a:rPr lang="en-US" dirty="0"/>
              <a:t>Monitors only the return points of known (or potentially) vulnerable functions</a:t>
            </a:r>
          </a:p>
          <a:p>
            <a:r>
              <a:rPr lang="en-US" dirty="0"/>
              <a:t>High detection rate (99% TPR)</a:t>
            </a:r>
          </a:p>
          <a:p>
            <a:r>
              <a:rPr lang="en-US" dirty="0"/>
              <a:t>Practical runtime overhead with 1-3 trigger points</a:t>
            </a:r>
          </a:p>
          <a:p>
            <a:r>
              <a:rPr lang="en-US" dirty="0"/>
              <a:t>Ongoing work</a:t>
            </a:r>
          </a:p>
          <a:p>
            <a:pPr lvl="1"/>
            <a:r>
              <a:rPr lang="en-US" dirty="0"/>
              <a:t>Validation and runtime measurements on additional vulnerable programs</a:t>
            </a:r>
          </a:p>
          <a:p>
            <a:pPr lvl="1"/>
            <a:r>
              <a:rPr lang="en-US" dirty="0"/>
              <a:t>Reducing FPR (2-3%) via ROP chain integrity check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DF92B8-EB42-53F0-8896-A2C937EDD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PROPS</a:t>
            </a:r>
            <a:endParaRPr lang="hu-H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F6214E-1311-22A6-C394-0B31CFD5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32308-F742-4E8E-A0E9-3E442CCFFF54}" type="slidenum">
              <a:rPr lang="hu-HU" smtClean="0"/>
              <a:pPr/>
              <a:t>16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113099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D5AE7-9562-79EF-338C-5C29D4DF5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83727-9E6A-FE72-6AC3-0F85F6A7A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052736"/>
            <a:ext cx="9364452" cy="5259164"/>
          </a:xfrm>
        </p:spPr>
        <p:txBody>
          <a:bodyPr/>
          <a:lstStyle/>
          <a:p>
            <a:r>
              <a:rPr lang="en-US" dirty="0"/>
              <a:t>This work was supported by the National Research, Development and Innovation Fund of Hungary </a:t>
            </a:r>
          </a:p>
          <a:p>
            <a:pPr lvl="1"/>
            <a:r>
              <a:rPr lang="en-US" dirty="0"/>
              <a:t>Doctoral Excellence Fellowship Program</a:t>
            </a:r>
          </a:p>
          <a:p>
            <a:pPr lvl="1"/>
            <a:r>
              <a:rPr lang="en-US" dirty="0"/>
              <a:t>NKKP-ADVANCED_25-153325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3B4A2B-5546-FB94-366A-63B412147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PROPS</a:t>
            </a:r>
            <a:endParaRPr lang="hu-H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EA7511-B3B6-148D-7805-4E6BC0187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32308-F742-4E8E-A0E9-3E442CCFFF54}" type="slidenum">
              <a:rPr lang="hu-HU" smtClean="0"/>
              <a:pPr/>
              <a:t>17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84626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8244</TotalTime>
  <Words>1269</Words>
  <Application>Microsoft Macintosh PowerPoint</Application>
  <PresentationFormat>Widescreen</PresentationFormat>
  <Paragraphs>231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Courier New</vt:lpstr>
      <vt:lpstr>Wingdings</vt:lpstr>
      <vt:lpstr>Office Theme</vt:lpstr>
      <vt:lpstr>PROPS: Learning Stack Patterns for ROP Detection on Legacy ARM-based Devices</vt:lpstr>
      <vt:lpstr>Motivation</vt:lpstr>
      <vt:lpstr>Objectives </vt:lpstr>
      <vt:lpstr>Overview of PROPS</vt:lpstr>
      <vt:lpstr>ROP on 32-bit ARM</vt:lpstr>
      <vt:lpstr>Feature Extraction Heuristic</vt:lpstr>
      <vt:lpstr>Example</vt:lpstr>
      <vt:lpstr>ROP as Anomaly on Stack</vt:lpstr>
      <vt:lpstr>Benign Stack Collection</vt:lpstr>
      <vt:lpstr>ROP Chain Generation </vt:lpstr>
      <vt:lpstr>Example ROP Feature Vector</vt:lpstr>
      <vt:lpstr>Evaluation Setup</vt:lpstr>
      <vt:lpstr>Detection Performance</vt:lpstr>
      <vt:lpstr>Proof-of-Concept Implementation</vt:lpstr>
      <vt:lpstr>Runtime Performance</vt:lpstr>
      <vt:lpstr>Validation</vt:lpstr>
      <vt:lpstr>Conclusion</vt:lpstr>
      <vt:lpstr>Acknowledgment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buttyan</dc:creator>
  <cp:lastModifiedBy>Sándor József</cp:lastModifiedBy>
  <cp:revision>241</cp:revision>
  <dcterms:created xsi:type="dcterms:W3CDTF">2014-12-01T17:03:38Z</dcterms:created>
  <dcterms:modified xsi:type="dcterms:W3CDTF">2026-08-26T04:51:07Z</dcterms:modified>
</cp:coreProperties>
</file>